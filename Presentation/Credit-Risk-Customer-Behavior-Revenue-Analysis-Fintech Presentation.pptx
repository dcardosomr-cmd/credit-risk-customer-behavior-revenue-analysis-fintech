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89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0720" y="115443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50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PRODUCT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4351" y="161925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Risk, Customer Behavior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Revenue Analysis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January 2024 – December 2025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115,539 applications · 144,561 transactions · 100,000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4965192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874520" cy="457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115,539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874520" cy="457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024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12344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06040" y="162763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874520" cy="457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024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12344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5.06%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162763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Uniform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914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914400"/>
            <a:ext cx="1874520" cy="457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024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20840" y="12344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20840" y="162763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controlled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25603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Stable demand: 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change is &lt;1% across all credit metrics. No alarming decline.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Default rate flat at 5% across ALL score bands: 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 may lack discriminatory power — most critical finding.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Conversion funnel gap: 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19.5% of app opens convert. Biggest drop: product view → add to cart (43% loss).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LTV uniform ($2,501): </a:t>
            </a: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between free, premium, and enterprise accounts.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49651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" cy="365760"/>
          </a:xfrm>
          <a:prstGeom prst="ellipse">
            <a:avLst/>
          </a:prstGeom>
          <a:solidFill>
            <a:srgbClr val="00A89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Demand: Stable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092872"/>
              </p:ext>
            </p:extLst>
          </p:nvPr>
        </p:nvGraphicFramePr>
        <p:xfrm>
          <a:off x="548640" y="777240"/>
          <a:ext cx="3840480" cy="12192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Requested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$1.477B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$1.464B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 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$71,791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$71,282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4688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64008" cy="82296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dips 2–3% each year (Feb weakest). Q3–Q4 marginally stronger. All changes within noise range.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777240"/>
            <a:ext cx="4023360" cy="2514600"/>
          </a:xfrm>
          <a:prstGeom prst="rect">
            <a:avLst/>
          </a:prstGeom>
          <a:solidFill>
            <a:srgbClr val="0A162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Q4 acquisition campaigns to capitalise on stronger demand and build Q1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loan conditions (rates, terms) during Q1 for personal/home loans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competitor Q1 promotions drawing applicants away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BFB663-0D12-EC7B-B932-19228E91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63524"/>
            <a:ext cx="4023360" cy="2528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" cy="365760"/>
          </a:xfrm>
          <a:prstGeom prst="ellipse">
            <a:avLst/>
          </a:prstGeom>
          <a:solidFill>
            <a:srgbClr val="00A89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Risk: Uniform Default Rate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77240"/>
          <a:ext cx="4206240" cy="1600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Band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600–699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50,918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700–762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763–799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800–849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834640"/>
            <a:ext cx="4206240" cy="1005840"/>
          </a:xfrm>
          <a:prstGeom prst="rect">
            <a:avLst/>
          </a:prstGeom>
          <a:solidFill>
            <a:srgbClr val="FDF0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64008" cy="100584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9077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FINDING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is ~5% across ALL score bands. The scoring model does not differentiate risk. We're rejecting 47% of &lt;600 applicants for no material risk reduction.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777240"/>
            <a:ext cx="3657600" cy="2331720"/>
          </a:xfrm>
          <a:prstGeom prst="rect">
            <a:avLst/>
          </a:prstGeom>
          <a:solidFill>
            <a:srgbClr val="0A162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0" y="33147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risk-based pricing by band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default timing (early vs late)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9442C4-065D-A2CD-B2CA-BE8C9658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803" y="777240"/>
            <a:ext cx="3692997" cy="23850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" cy="365760"/>
          </a:xfrm>
          <a:prstGeom prst="ellipse">
            <a:avLst/>
          </a:prstGeom>
          <a:solidFill>
            <a:srgbClr val="00A89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Segments: Volume Without Differentiation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3657600" cy="1371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LTV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40,513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28,698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Type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5156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LTV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80,740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2926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64008" cy="77724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7"/>
          <p:cNvSpPr/>
          <p:nvPr/>
        </p:nvSpPr>
        <p:spPr>
          <a:xfrm>
            <a:off x="777240" y="29992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34 = VOLUME LEADER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 of apps, highest total income ($2.9B). But avg LTV ($2,499) is identical to other groups. Volume ≠ value.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937760" y="2926080"/>
            <a:ext cx="3657600" cy="777240"/>
          </a:xfrm>
          <a:prstGeom prst="rect">
            <a:avLst/>
          </a:prstGeom>
          <a:solidFill>
            <a:srgbClr val="FFF8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937760" y="2926080"/>
            <a:ext cx="64008" cy="777240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166360" y="29992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LTV DIFFERENTIATION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enterprise accounts produce identical LTV to free accounts. Paid tiers are not driving higher value.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acquisition on 25 – 34 for volume; develop upsell paths to increase ARPU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premium/enterprise benefits: lower rates, faster approval, higher limits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unemployed applicant approval criteria (10.2% of apps, 68.7% approval rate)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" cy="365760"/>
          </a:xfrm>
          <a:prstGeom prst="ellipse">
            <a:avLst/>
          </a:prstGeom>
          <a:solidFill>
            <a:srgbClr val="00A89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844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Transactions: Controlled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144,561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06040" y="731520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7772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$51.0M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731520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7772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960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1.02%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20840" y="731520"/>
            <a:ext cx="1874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7772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20840" y="960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40.2%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1600200"/>
            <a:ext cx="4023360" cy="960120"/>
          </a:xfrm>
          <a:prstGeom prst="rect">
            <a:avLst/>
          </a:prstGeom>
          <a:solidFill>
            <a:srgbClr val="FFF8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1600200"/>
            <a:ext cx="64008" cy="960120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16733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CLARIFICATION: "REFUNDS"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"20% refund rate" = proportion of refund-type transactions (1 of 5 types, each ~20%). Zero records have status='refunded'. This is not a customer satisfaction issue — it's a data labelling confusion. Relabel on dashboard.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Markets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4023360" cy="1143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58,149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846320" y="1600200"/>
            <a:ext cx="3840480" cy="2560320"/>
          </a:xfrm>
          <a:prstGeom prst="rect">
            <a:avLst/>
          </a:prstGeom>
          <a:solidFill>
            <a:srgbClr val="0A1628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938DFB2-7C07-43B8-04DE-7DD90143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422" y="1600200"/>
            <a:ext cx="3769526" cy="2354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" cy="365760"/>
          </a:xfrm>
          <a:prstGeom prst="ellipse">
            <a:avLst/>
          </a:prstGeom>
          <a:solidFill>
            <a:srgbClr val="00A89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Funnel: Where Users Drop Off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Open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813816"/>
            <a:ext cx="4389120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777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78040" y="777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Homepage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1271016"/>
            <a:ext cx="3704417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4697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3337" y="1234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691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1728216"/>
            <a:ext cx="3085551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5831" y="1691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74471" y="1691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185416"/>
            <a:ext cx="1746870" cy="27432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87150" y="2148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35790" y="2148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Checkout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2642616"/>
            <a:ext cx="1303569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43849" y="2606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92489" y="26060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063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3099816"/>
            <a:ext cx="1097280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063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86200" y="3063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Order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48840" y="3557016"/>
            <a:ext cx="961217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1497" y="3520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50137" y="35204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48840" y="4014216"/>
            <a:ext cx="855878" cy="27432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96158" y="3977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44798" y="3977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19" y="1691640"/>
            <a:ext cx="88148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−43%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0" y="17632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434840"/>
            <a:ext cx="4023360" cy="457200"/>
          </a:xfrm>
          <a:prstGeom prst="rect">
            <a:avLst/>
          </a:prstGeom>
          <a:solidFill>
            <a:srgbClr val="FDF0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64008" cy="45720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 → Add to Cart loses 43% of users. This single step is the #1 UX optimisation target.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4434840"/>
            <a:ext cx="3657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9200" y="4434840"/>
            <a:ext cx="64008" cy="45720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578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FIRST: </a:t>
            </a: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sessions on iOS/Android. 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business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33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23340"/>
            <a:ext cx="64008" cy="658368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23924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690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Credit Scoring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6250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5% default rate means we reject 47% of &lt;600 applicants for no risk reduction. Fix this to unlock revenue.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80960" y="1506220"/>
            <a:ext cx="731520" cy="27432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5062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1005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100580"/>
            <a:ext cx="64008" cy="658368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201164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1463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Conversion Funnel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4023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conversion rate. Product→Cart loses 43%. A 10pp improvement here 20% more confirmed orders.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80960" y="2283460"/>
            <a:ext cx="731520" cy="27432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0" y="22834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28778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877820"/>
            <a:ext cx="64008" cy="658368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2978404"/>
            <a:ext cx="365760" cy="365760"/>
          </a:xfrm>
          <a:prstGeom prst="ellipse">
            <a:avLst/>
          </a:prstGeom>
          <a:solidFill>
            <a:srgbClr val="D493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29235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 Account Tiers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1795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is identical ($2,501) across free/premium/enterprise. Redesign paid benefits to drive real value.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0" y="3060700"/>
            <a:ext cx="731520" cy="274320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30607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6550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3655060"/>
            <a:ext cx="64008" cy="658368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755644"/>
            <a:ext cx="365760" cy="365760"/>
          </a:xfrm>
          <a:prstGeom prst="ellipse">
            <a:avLst/>
          </a:prstGeom>
          <a:solidFill>
            <a:srgbClr val="D4930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7007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Marketing Calendar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39568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campaigns for natural demand; Q1 retention offers for seasonal dip. Target 25 – 34, personal/home loans.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80960" y="3837940"/>
            <a:ext cx="731520" cy="274320"/>
          </a:xfrm>
          <a:prstGeom prst="rect">
            <a:avLst/>
          </a:prstGeom>
          <a:solidFill>
            <a:srgbClr val="D493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0960" y="38379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96519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Customer Behavior &amp; Revenue Analysis 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2960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377440"/>
            <a:ext cx="1463040" cy="36576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1932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Duarte Cardoso | Data Analyst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and data available in the GitHub repository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Credit-Risk-Customer-Behavior-Revenue-Analysis-Fintech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A89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4965192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937</Words>
  <Application>Microsoft Office PowerPoint</Application>
  <PresentationFormat>On-screen Show (16:9)</PresentationFormat>
  <Paragraphs>253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Risk, Customer Behavior &amp; Revenue Analysis</dc:title>
  <dc:subject>PptxGenJS Presentation</dc:subject>
  <dc:creator>Fintech Analytics</dc:creator>
  <cp:lastModifiedBy>Duarte Cardoso</cp:lastModifiedBy>
  <cp:revision>2</cp:revision>
  <dcterms:created xsi:type="dcterms:W3CDTF">2026-02-16T15:38:08Z</dcterms:created>
  <dcterms:modified xsi:type="dcterms:W3CDTF">2026-02-16T15:54:28Z</dcterms:modified>
</cp:coreProperties>
</file>